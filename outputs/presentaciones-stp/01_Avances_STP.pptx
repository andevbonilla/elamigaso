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2f0c6e6acd43f9" /><Relationship Type="http://schemas.openxmlformats.org/officeDocument/2006/relationships/extended-properties" Target="/docProps/app.xml" Id="R19ab940367f849b6" /><Relationship Type="http://schemas.openxmlformats.org/officeDocument/2006/relationships/officeDocument" Target="/ppt/presentation.xml" Id="Ra465a697f6e94d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a1848df14f43ff"/>
  </p:sldMasterIdLst>
  <p:notesMasterIdLst>
    <p:notesMasterId xmlns:r="http://schemas.openxmlformats.org/officeDocument/2006/relationships" r:id="Rd332c4e7dd9b47a9"/>
  </p:notesMasterIdLst>
  <p:sldIdLst>
    <p:sldId xmlns:r="http://schemas.openxmlformats.org/officeDocument/2006/relationships" id="256" r:id="R32ba59e41c5240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7d80c801b346d2" /><Relationship Type="http://schemas.openxmlformats.org/officeDocument/2006/relationships/slideMaster" Target="/ppt/slideMasters/slideMaster1.xml" Id="Rbba1848df14f43ff" /><Relationship Type="http://schemas.openxmlformats.org/officeDocument/2006/relationships/notesMaster" Target="/ppt/notesMasters/notesMaster1.xml" Id="Rd332c4e7dd9b47a9" /><Relationship Type="http://schemas.openxmlformats.org/officeDocument/2006/relationships/presProps" Target="/ppt/presProps.xml" Id="R00e5665579e347c0" /><Relationship Type="http://schemas.openxmlformats.org/officeDocument/2006/relationships/tableStyles" Target="/ppt/tableStyles.xml" Id="R4000921fb7fd464f" /><Relationship Type="http://schemas.openxmlformats.org/officeDocument/2006/relationships/slide" Target="/ppt/slides/slide1.xml" Id="R32ba59e41c5240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37d774298349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17fef6692942b5" /><Relationship Type="http://schemas.openxmlformats.org/officeDocument/2006/relationships/notesMaster" Target="/ppt/notesMasters/notesMaster1.xml" Id="R5a8a348650b4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Avances implementados en el prototipo local de El Amigaso. Fuente: código de la herramienta, componentes stp-segments, stp-targets, stp-positioning, stp-data y detail-tutorial. El ejemplo procede del Excel Facturación-2026-10-16T05_26_17.926Z.xlsx y cubre del 1 al 7 de septiembre de 2026. La evaluación real requiere al menos un mes calendario completo y confirmación de cobertura. El potencial y la viabilidad son juicios comerciales pendientes de validación. El mapa excluye clientes sin coordenadas utilizables y muestra su cobertura. Las señales usan reglas descriptivas y revisables. El aumento de ventas y el posicionamiento efectivo aún deben comprobarse. Diseño y logos derivados de la segunda imagen de referencia aportada por el usuario. Los textos del cuerpo son editables. La URL de la referencia no se presenta como despliegue verificado.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77c723e5c446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bd3b8d7feb4a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7b938d6b149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baabb3c2b4a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ef2f4d3fa4c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cbdaefa6e4d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24B028-C0E3-496B-9A07-4F909D0A78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58D1601-F9BC-454E-997F-FBEE0AA93B9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D6552DF-AB91-4054-8608-14509CEC4A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46A937-88F7-4D31-9A53-5A349A834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20B6A57-B0F0-4C33-B0B6-0D65689D1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9E2BD5-17FE-476F-825E-D8894D0484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A0840D-9551-4966-B13B-539C12D2CA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BA2511-7C65-47B8-8810-5D19B9ADD4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EC607C-69DB-47AB-A11E-750BC055D3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BCA586-B9B8-4F11-81F1-C5E7838835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b8167250064e29" /><Relationship Type="http://schemas.openxmlformats.org/officeDocument/2006/relationships/slideLayout" Target="/ppt/slideLayouts/slideLayout1.xml" Id="R7601298e8c164389" /><Relationship Type="http://schemas.openxmlformats.org/officeDocument/2006/relationships/slideLayout" Target="/ppt/slideLayouts/slideLayout2.xml" Id="R00f8881850d74409" /><Relationship Type="http://schemas.openxmlformats.org/officeDocument/2006/relationships/slideLayout" Target="/ppt/slideLayouts/slideLayout3.xml" Id="Ree2f5b0ee0a9428d" /><Relationship Type="http://schemas.openxmlformats.org/officeDocument/2006/relationships/slideLayout" Target="/ppt/slideLayouts/slideLayout4.xml" Id="Rbfbc729063cf46f1" /><Relationship Type="http://schemas.openxmlformats.org/officeDocument/2006/relationships/slideLayout" Target="/ppt/slideLayouts/slideLayout5.xml" Id="R35b20acc38e44248" /><Relationship Type="http://schemas.openxmlformats.org/officeDocument/2006/relationships/slideLayout" Target="/ppt/slideLayouts/slideLayout6.xml" Id="R9fb31e7ef4f84b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01298e8c164389"/>
    <p:sldLayoutId xmlns:r="http://schemas.openxmlformats.org/officeDocument/2006/relationships" id="2147483650" r:id="R00f8881850d74409"/>
    <p:sldLayoutId xmlns:r="http://schemas.openxmlformats.org/officeDocument/2006/relationships" id="2147483651" r:id="Ree2f5b0ee0a9428d"/>
    <p:sldLayoutId xmlns:r="http://schemas.openxmlformats.org/officeDocument/2006/relationships" id="2147483652" r:id="Rbfbc729063cf46f1"/>
    <p:sldLayoutId xmlns:r="http://schemas.openxmlformats.org/officeDocument/2006/relationships" id="2147483653" r:id="R35b20acc38e44248"/>
    <p:sldLayoutId xmlns:r="http://schemas.openxmlformats.org/officeDocument/2006/relationships" id="2147483654" r:id="R9fb31e7ef4f84b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7e52cd50f4da8" /><Relationship Type="http://schemas.openxmlformats.org/officeDocument/2006/relationships/image" Target="/ppt/media/image.png" Id="R1a05b7e1927e443b" /><Relationship Type="http://schemas.openxmlformats.org/officeDocument/2006/relationships/image" Target="/ppt/media/image2.png" Id="R6d13f73746f749f2" /><Relationship Type="http://schemas.openxmlformats.org/officeDocument/2006/relationships/image" Target="/ppt/media/image3.png" Id="R788b3a50dbe64625" /><Relationship Type="http://schemas.openxmlformats.org/officeDocument/2006/relationships/image" Target="/ppt/media/image4.png" Id="R9911808a62384398" /><Relationship Type="http://schemas.openxmlformats.org/officeDocument/2006/relationships/notesSlide" Target="/ppt/notesSlides/notesSlide1.xml" Id="R783a175f87a140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3E37D-F938-4224-83F3-C8FDA55527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5b7e1927e443b"/>
          <a:srcRect xmlns:a="http://schemas.openxmlformats.org/drawingml/2006/main" l="614" t="1084" r="80200" b="96477"/>
          <a:stretch xmlns:a="http://schemas.openxmlformats.org/drawingml/2006/main"/>
        </p:blipFill>
        <p:spPr>
          <a:xfrm xmlns:a="http://schemas.openxmlformats.org/drawingml/2006/main">
            <a:off x="0" y="0"/>
            <a:ext cx="5524500" cy="10668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79A29-2582-4F96-9413-BC80CB7BFE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13f73746f749f2"/>
          <a:srcRect xmlns:a="http://schemas.openxmlformats.org/drawingml/2006/main" l="32233" t="949" r="52034" b="95528"/>
          <a:stretch xmlns:a="http://schemas.openxmlformats.org/drawingml/2006/main"/>
        </p:blipFill>
        <p:spPr>
          <a:xfrm xmlns:a="http://schemas.openxmlformats.org/drawingml/2006/main">
            <a:off x="3943350" y="0"/>
            <a:ext cx="2000250" cy="28575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8A92E-1A28-45B8-B80D-50EC0C274E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b3a50dbe64625"/>
          <a:srcRect xmlns:a="http://schemas.openxmlformats.org/drawingml/2006/main" l="96009" t="949" r="1228" b="2033"/>
          <a:stretch xmlns:a="http://schemas.openxmlformats.org/drawingml/2006/main"/>
        </p:blipFill>
        <p:spPr>
          <a:xfrm xmlns:a="http://schemas.openxmlformats.org/drawingml/2006/main">
            <a:off x="11830050" y="0"/>
            <a:ext cx="361950" cy="68580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AC98C-B0A3-40AC-8DF8-9A809C9D43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1808a62384398"/>
          <a:srcRect xmlns:a="http://schemas.openxmlformats.org/drawingml/2006/main" l="2916" t="90786" r="82502" b="2981"/>
          <a:stretch xmlns:a="http://schemas.openxmlformats.org/drawingml/2006/main"/>
        </p:blipFill>
        <p:spPr>
          <a:xfrm xmlns:a="http://schemas.openxmlformats.org/drawingml/2006/main">
            <a:off x="361950" y="6372225"/>
            <a:ext cx="1809750" cy="438150"/>
          </a:xfrm>
          <a:prstGeom xmlns:a="http://schemas.openxmlformats.org/drawingml/2006/main" prst="rect">
            <a:avLst/>
          </a:prstGeom>
        </p:spPr>
      </p:pic>
      <p:sp>
        <p:nvSpPr>
          <p:cNvPr id="5" name="titulo">
            <a:extLst xmlns:a="http://schemas.openxmlformats.org/drawingml/2006/main">
              <a:ext uri="{FF2B5EF4-FFF2-40B4-BE49-F238E27FC236}">
                <a16:creationId xmlns:a16="http://schemas.microsoft.com/office/drawing/2014/main" id="{4509E9D9-D5EE-4C70-9166-4B34B322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20955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7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AVANCES</a:t>
            </a:r>
          </a:p>
        </p:txBody>
      </p:sp>
      <p:sp>
        <p:nvSpPr>
          <p:cNvPr id="6" name="autor">
            <a:extLst xmlns:a="http://schemas.openxmlformats.org/drawingml/2006/main">
              <a:ext uri="{FF2B5EF4-FFF2-40B4-BE49-F238E27FC236}">
                <a16:creationId xmlns:a16="http://schemas.microsoft.com/office/drawing/2014/main" id="{C439969E-AAE3-4235-8CCB-7B5B0102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61950"/>
            <a:ext cx="357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0" i="0">
                <a:solidFill>
                  <a:srgbClr val="1F5A3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4800" b="0" i="0">
                <a:solidFill>
                  <a:srgbClr val="1F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 b="0" i="0">
                <a:solidFill>
                  <a:srgbClr val="1F5A3C"/>
                </a:solidFill>
                <a:latin typeface="Times New Roman"/>
                <a:ea typeface="Times New Roman"/>
                <a:cs typeface="Times New Roman"/>
              </a:rPr>
              <a:t>ANDRES</a:t>
            </a:r>
          </a:p>
        </p:txBody>
      </p:sp>
      <p:sp>
        <p:nvSpPr>
          <p:cNvPr id="7" name="etapa">
            <a:extLst xmlns:a="http://schemas.openxmlformats.org/drawingml/2006/main">
              <a:ext uri="{FF2B5EF4-FFF2-40B4-BE49-F238E27FC236}">
                <a16:creationId xmlns:a16="http://schemas.microsoft.com/office/drawing/2014/main" id="{EB8207CB-F415-46AC-9D61-98A2E972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1476375" y="3838575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800" b="0" i="0">
                <a:solidFill>
                  <a:srgbClr val="141E64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4800" b="0" i="0">
                <a:solidFill>
                  <a:srgbClr val="141E6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 b="0" i="0">
                <a:solidFill>
                  <a:srgbClr val="141E64"/>
                </a:solidFill>
                <a:latin typeface="Times New Roman"/>
                <a:ea typeface="Times New Roman"/>
                <a:cs typeface="Times New Roman"/>
              </a:rPr>
              <a:t>ETAPA 2: STP</a:t>
            </a:r>
          </a:p>
        </p:txBody>
      </p:sp>
      <p:sp>
        <p:nvSpPr>
          <p:cNvPr id="8" name="introduccion">
            <a:extLst xmlns:a="http://schemas.openxmlformats.org/drawingml/2006/main">
              <a:ext uri="{FF2B5EF4-FFF2-40B4-BE49-F238E27FC236}">
                <a16:creationId xmlns:a16="http://schemas.microsoft.com/office/drawing/2014/main" id="{712FD5A3-10AA-4D1D-B374-FB14D256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1457325"/>
            <a:ext cx="928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72B66"/>
                </a:solidFill>
                <a:latin typeface="Arial"/>
                <a:ea typeface="Arial"/>
                <a:cs typeface="Arial"/>
              </a:rPr>
              <a:t>Herramienta para orientar la atención comercial</a:t>
            </a:r>
          </a:p>
        </p:txBody>
      </p:sp>
      <p:sp>
        <p:nvSpPr>
          <p:cNvPr id="9" name="avance-1">
            <a:extLst xmlns:a="http://schemas.openxmlformats.org/drawingml/2006/main">
              <a:ext uri="{FF2B5EF4-FFF2-40B4-BE49-F238E27FC236}">
                <a16:creationId xmlns:a16="http://schemas.microsoft.com/office/drawing/2014/main" id="{D4E758F1-1B86-4054-983F-DC892568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2095500"/>
            <a:ext cx="919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2B66"/>
                </a:solidFill>
                <a:latin typeface="Arial"/>
                <a:ea typeface="Arial"/>
                <a:cs typeface="Arial"/>
              </a:rPr>
              <a:t>Segmentación de clientes</a:t>
            </a:r>
          </a:p>
        </p:txBody>
      </p:sp>
      <p:sp>
        <p:nvSpPr>
          <p:cNvPr id="10" name="detalle-1">
            <a:extLst xmlns:a="http://schemas.openxmlformats.org/drawingml/2006/main">
              <a:ext uri="{FF2B5EF4-FFF2-40B4-BE49-F238E27FC236}">
                <a16:creationId xmlns:a16="http://schemas.microsoft.com/office/drawing/2014/main" id="{6D0641F4-AF1C-43B2-822D-9ACDA6E9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2419350"/>
            <a:ext cx="919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334D"/>
                </a:solidFill>
                <a:latin typeface="Arial"/>
                <a:ea typeface="Arial"/>
                <a:cs typeface="Arial"/>
              </a:rPr>
              <a:t>Compras, frecuencia y categorías para definir perfiles preliminares.</a:t>
            </a:r>
          </a:p>
        </p:txBody>
      </p:sp>
      <p:sp>
        <p:nvSpPr>
          <p:cNvPr id="11" name="avance-2">
            <a:extLst xmlns:a="http://schemas.openxmlformats.org/drawingml/2006/main">
              <a:ext uri="{FF2B5EF4-FFF2-40B4-BE49-F238E27FC236}">
                <a16:creationId xmlns:a16="http://schemas.microsoft.com/office/drawing/2014/main" id="{84803F79-5D34-4B3B-A48D-74B9AA11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2981325"/>
            <a:ext cx="919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2B66"/>
                </a:solidFill>
                <a:latin typeface="Arial"/>
                <a:ea typeface="Arial"/>
                <a:cs typeface="Arial"/>
              </a:rPr>
              <a:t>Selección de tiendas objetivo</a:t>
            </a:r>
          </a:p>
        </p:txBody>
      </p:sp>
      <p:sp>
        <p:nvSpPr>
          <p:cNvPr id="12" name="detalle-2">
            <a:extLst xmlns:a="http://schemas.openxmlformats.org/drawingml/2006/main">
              <a:ext uri="{FF2B5EF4-FFF2-40B4-BE49-F238E27FC236}">
                <a16:creationId xmlns:a16="http://schemas.microsoft.com/office/drawing/2014/main" id="{B6C7FC90-5DC7-40ED-BA88-FEB0FB42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3305175"/>
            <a:ext cx="919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334D"/>
                </a:solidFill>
                <a:latin typeface="Arial"/>
                <a:ea typeface="Arial"/>
                <a:cs typeface="Arial"/>
              </a:rPr>
              <a:t>Compra mensual frente al potencial y la viabilidad informados por el asesor.</a:t>
            </a:r>
          </a:p>
        </p:txBody>
      </p:sp>
      <p:sp>
        <p:nvSpPr>
          <p:cNvPr id="13" name="avance-3">
            <a:extLst xmlns:a="http://schemas.openxmlformats.org/drawingml/2006/main">
              <a:ext uri="{FF2B5EF4-FFF2-40B4-BE49-F238E27FC236}">
                <a16:creationId xmlns:a16="http://schemas.microsoft.com/office/drawing/2014/main" id="{771E4481-C1C9-46D9-BA89-6A8B3B11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3867150"/>
            <a:ext cx="919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2B66"/>
                </a:solidFill>
                <a:latin typeface="Arial"/>
                <a:ea typeface="Arial"/>
                <a:cs typeface="Arial"/>
              </a:rPr>
              <a:t>Propuesta y seguimiento</a:t>
            </a:r>
          </a:p>
        </p:txBody>
      </p:sp>
      <p:sp>
        <p:nvSpPr>
          <p:cNvPr id="14" name="detalle-3">
            <a:extLst xmlns:a="http://schemas.openxmlformats.org/drawingml/2006/main">
              <a:ext uri="{FF2B5EF4-FFF2-40B4-BE49-F238E27FC236}">
                <a16:creationId xmlns:a16="http://schemas.microsoft.com/office/drawing/2014/main" id="{DB198756-05D6-4AD3-A5E8-C4DF607C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4191000"/>
            <a:ext cx="919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334D"/>
                </a:solidFill>
                <a:latin typeface="Arial"/>
                <a:ea typeface="Arial"/>
                <a:cs typeface="Arial"/>
              </a:rPr>
              <a:t>Beneficio, canal, responsable y meta por perfil. Plan descargable por cliente.</a:t>
            </a:r>
          </a:p>
        </p:txBody>
      </p:sp>
      <p:sp>
        <p:nvSpPr>
          <p:cNvPr id="15" name="avance-4">
            <a:extLst xmlns:a="http://schemas.openxmlformats.org/drawingml/2006/main">
              <a:ext uri="{FF2B5EF4-FFF2-40B4-BE49-F238E27FC236}">
                <a16:creationId xmlns:a16="http://schemas.microsoft.com/office/drawing/2014/main" id="{2FED5E98-0732-4141-98E3-331D8DC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4752975"/>
            <a:ext cx="919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2B66"/>
                </a:solidFill>
                <a:latin typeface="Arial"/>
                <a:ea typeface="Arial"/>
                <a:cs typeface="Arial"/>
              </a:rPr>
              <a:t>Datos de ABAKO y lectura visual</a:t>
            </a:r>
          </a:p>
        </p:txBody>
      </p:sp>
      <p:sp>
        <p:nvSpPr>
          <p:cNvPr id="16" name="detalle-4">
            <a:extLst xmlns:a="http://schemas.openxmlformats.org/drawingml/2006/main">
              <a:ext uri="{FF2B5EF4-FFF2-40B4-BE49-F238E27FC236}">
                <a16:creationId xmlns:a16="http://schemas.microsoft.com/office/drawing/2014/main" id="{9FE30CE4-93D0-4AA2-8222-CBE6B6AB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5076825"/>
            <a:ext cx="9191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9334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9334D"/>
                </a:solidFill>
                <a:latin typeface="Arial"/>
                <a:ea typeface="Arial"/>
                <a:cs typeface="Arial"/>
              </a:rPr>
              <a:t>Carga de Excel, gráficas y mapa con cobertura visible. Guía para exportar un mes completo.</a:t>
            </a:r>
          </a:p>
        </p:txBody>
      </p:sp>
      <p:sp>
        <p:nvSpPr>
          <p:cNvPr id="17" name="alcance">
            <a:extLst xmlns:a="http://schemas.openxmlformats.org/drawingml/2006/main">
              <a:ext uri="{FF2B5EF4-FFF2-40B4-BE49-F238E27FC236}">
                <a16:creationId xmlns:a16="http://schemas.microsoft.com/office/drawing/2014/main" id="{91D7D479-2C07-480C-A79D-3AB91BA3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57626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 i="0">
                <a:solidFill>
                  <a:srgbClr val="5A64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5A64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A647B"/>
                </a:solidFill>
                <a:latin typeface="Arial"/>
                <a:ea typeface="Arial"/>
                <a:cs typeface="Arial"/>
              </a:rPr>
              <a:t>Ejemplo parcial disponible. La operación requiere un mes completo y validación comercial.</a:t>
            </a:r>
          </a:p>
        </p:txBody>
      </p:sp>
      <p:sp>
        <p:nvSpPr>
          <p:cNvPr id="18" name="pie">
            <a:extLst xmlns:a="http://schemas.openxmlformats.org/drawingml/2006/main">
              <a:ext uri="{FF2B5EF4-FFF2-40B4-BE49-F238E27FC236}">
                <a16:creationId xmlns:a16="http://schemas.microsoft.com/office/drawing/2014/main" id="{52CDBBD9-DFDA-40CB-8885-29250B09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6191250"/>
            <a:ext cx="928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072B6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2B66"/>
                </a:solidFill>
                <a:latin typeface="Arial"/>
                <a:ea typeface="Arial"/>
                <a:cs typeface="Arial"/>
              </a:rPr>
              <a:t>Prototipo STP de El Amigaso</a:t>
            </a:r>
          </a:p>
        </p:txBody>
      </p:sp>
    </p:spTree>
    <p:extLst>
      <p:ext uri="{BB962C8B-B14F-4D97-AF65-F5344CB8AC3E}">
        <p14:creationId xmlns:p14="http://schemas.microsoft.com/office/powerpoint/2010/main" val="2035945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2026-10-16T06:32:54.4780000Z</dcterms:created>
  <dcterms:modified xsi:type="dcterms:W3CDTF">2026-10-16T06:32:54.4780000Z</dcterms:modified>
</coreProperties>
</file>