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5491e0e31a4b49" /><Relationship Type="http://schemas.openxmlformats.org/officeDocument/2006/relationships/extended-properties" Target="/docProps/app.xml" Id="R0337421d123a416b" /><Relationship Type="http://schemas.openxmlformats.org/officeDocument/2006/relationships/officeDocument" Target="/ppt/presentation.xml" Id="R9c14ac4ea2a34c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b301ba1f4049f7"/>
  </p:sldMasterIdLst>
  <p:notesMasterIdLst>
    <p:notesMasterId xmlns:r="http://schemas.openxmlformats.org/officeDocument/2006/relationships" r:id="R3f3418b77ed542b5"/>
  </p:notesMasterIdLst>
  <p:sldIdLst>
    <p:sldId xmlns:r="http://schemas.openxmlformats.org/officeDocument/2006/relationships" id="256" r:id="R38767470a4b342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b0c2f127474c4f" /><Relationship Type="http://schemas.openxmlformats.org/officeDocument/2006/relationships/slideMaster" Target="/ppt/slideMasters/slideMaster1.xml" Id="Ra0b301ba1f4049f7" /><Relationship Type="http://schemas.openxmlformats.org/officeDocument/2006/relationships/notesMaster" Target="/ppt/notesMasters/notesMaster1.xml" Id="R3f3418b77ed542b5" /><Relationship Type="http://schemas.openxmlformats.org/officeDocument/2006/relationships/presProps" Target="/ppt/presProps.xml" Id="Rb0588134fb6448fa" /><Relationship Type="http://schemas.openxmlformats.org/officeDocument/2006/relationships/tableStyles" Target="/ppt/tableStyles.xml" Id="R1da0278f825943cf" /><Relationship Type="http://schemas.openxmlformats.org/officeDocument/2006/relationships/slide" Target="/ppt/slides/slide1.xml" Id="R38767470a4b342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c4b339cc654b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387ac904be4838" /><Relationship Type="http://schemas.openxmlformats.org/officeDocument/2006/relationships/notesMaster" Target="/ppt/notesMasters/notesMaster1.xml" Id="R0ad6bbdd60534f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Funcionamiento propuesto del modelo STP de El Amigaso. La operación comienza con la exportación completa de un mes calendario desde Portal Transaccional, Reportes, Ventas, Facturación, Excel - Todos los Registros. Si se descarga por semanas deben reunirse todas las del mes. El ejemplo de siete días únicamente demuestra la interfaz. Segmentación: perfiles preliminares a partir de compras observadas y contexto comercial. Selección: potencial estimado por el asesor, viabilidad y capacidad de atención. Posicionamiento: propuesta por perfil, ejecución comercial y medición posterior. El prototipo no registra todavía la ejecución de contactos y no demuestra impacto causal en ventas. Deben recopilarse resultados de las gestiones para validar el efecto. El mapa ayuda a revisar la distribución de clientes con coordenadas y no optimiza rutas. Fuente: implementación del prototipo y las láminas STP aportadas en la conversación. Diseño y logos derivados de la primera imagen de referencia del usuario. Sin fechas de calendario inventadas, la columna izquierda indica el propósito de cada etapa. El diagrama de cuatro pasos y sus textos son editables.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9d36e169647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0d6886c5c44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f38d75be14a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d75e97e084d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748b2530144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54d99af9d4b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D55637-3607-494B-881B-53607C566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449482-FF53-4003-90FE-611457E6F5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02F30C-9832-4469-ADCC-29D823D6E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EF170B-B784-499F-8766-870A3D80C0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86380B-96CB-422C-9885-9D1FFC7FDE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08AC98-DF2C-4BFD-8DF9-FA6F4583B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A3CF8D-C1C9-45C1-A837-C31E92C20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A340F2-F50F-40AD-809E-E76C08B842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589310-2D6C-4D92-98BD-7646CDA05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7589A9-C8FE-40AE-9F49-764CEB0FA3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3846ed6c543c3" /><Relationship Type="http://schemas.openxmlformats.org/officeDocument/2006/relationships/slideLayout" Target="/ppt/slideLayouts/slideLayout1.xml" Id="Rb15f24f2bd294bce" /><Relationship Type="http://schemas.openxmlformats.org/officeDocument/2006/relationships/slideLayout" Target="/ppt/slideLayouts/slideLayout2.xml" Id="Rcb10fc854b6d486e" /><Relationship Type="http://schemas.openxmlformats.org/officeDocument/2006/relationships/slideLayout" Target="/ppt/slideLayouts/slideLayout3.xml" Id="R8e799da58ca04444" /><Relationship Type="http://schemas.openxmlformats.org/officeDocument/2006/relationships/slideLayout" Target="/ppt/slideLayouts/slideLayout4.xml" Id="R00bc271b2ffa4131" /><Relationship Type="http://schemas.openxmlformats.org/officeDocument/2006/relationships/slideLayout" Target="/ppt/slideLayouts/slideLayout5.xml" Id="R5f09a512849d413f" /><Relationship Type="http://schemas.openxmlformats.org/officeDocument/2006/relationships/slideLayout" Target="/ppt/slideLayouts/slideLayout6.xml" Id="R436611bcfcab43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f24f2bd294bce"/>
    <p:sldLayoutId xmlns:r="http://schemas.openxmlformats.org/officeDocument/2006/relationships" id="2147483650" r:id="Rcb10fc854b6d486e"/>
    <p:sldLayoutId xmlns:r="http://schemas.openxmlformats.org/officeDocument/2006/relationships" id="2147483651" r:id="R8e799da58ca04444"/>
    <p:sldLayoutId xmlns:r="http://schemas.openxmlformats.org/officeDocument/2006/relationships" id="2147483652" r:id="R00bc271b2ffa4131"/>
    <p:sldLayoutId xmlns:r="http://schemas.openxmlformats.org/officeDocument/2006/relationships" id="2147483653" r:id="R5f09a512849d413f"/>
    <p:sldLayoutId xmlns:r="http://schemas.openxmlformats.org/officeDocument/2006/relationships" id="2147483654" r:id="R436611bcfcab43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dd546172be4da4" /><Relationship Type="http://schemas.openxmlformats.org/officeDocument/2006/relationships/image" Target="/ppt/media/image.png" Id="Rba88fe04eab44f64" /><Relationship Type="http://schemas.openxmlformats.org/officeDocument/2006/relationships/image" Target="/ppt/media/image2.png" Id="Rc6801f58cf47490f" /><Relationship Type="http://schemas.openxmlformats.org/officeDocument/2006/relationships/notesSlide" Target="/ppt/notesSlides/notesSlide1.xml" Id="R589e89fbe53d4b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BE28E9-641B-457D-A4A2-153994EAE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8fe04eab44f64"/>
          <a:srcRect xmlns:a="http://schemas.openxmlformats.org/drawingml/2006/main" l="96651" t="276" r="701" b="829"/>
          <a:stretch xmlns:a="http://schemas.openxmlformats.org/drawingml/2006/main"/>
        </p:blipFill>
        <p:spPr>
          <a:xfrm xmlns:a="http://schemas.openxmlformats.org/drawingml/2006/main">
            <a:off x="11830050" y="0"/>
            <a:ext cx="36195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3B02F-78A6-44EF-9FAB-31115A416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01f58cf47490f"/>
          <a:srcRect xmlns:a="http://schemas.openxmlformats.org/drawingml/2006/main" l="3115" t="1381" r="78816" b="90055"/>
          <a:stretch xmlns:a="http://schemas.openxmlformats.org/drawingml/2006/main"/>
        </p:blipFill>
        <p:spPr>
          <a:xfrm xmlns:a="http://schemas.openxmlformats.org/drawingml/2006/main">
            <a:off x="381000" y="95250"/>
            <a:ext cx="2209800" cy="590550"/>
          </a:xfrm>
          <a:prstGeom xmlns:a="http://schemas.openxmlformats.org/drawingml/2006/main" prst="rect">
            <a:avLst/>
          </a:prstGeom>
        </p:spPr>
      </p:pic>
      <p:sp>
        <p:nvSpPr>
          <p:cNvPr id="3" name="titulo">
            <a:extLst xmlns:a="http://schemas.openxmlformats.org/drawingml/2006/main">
              <a:ext uri="{FF2B5EF4-FFF2-40B4-BE49-F238E27FC236}">
                <a16:creationId xmlns:a16="http://schemas.microsoft.com/office/drawing/2014/main" id="{F91D0304-6C6A-477C-A37B-5D2ABEB1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895350"/>
            <a:ext cx="547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33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72B66"/>
                </a:solidFill>
                <a:latin typeface="Arial"/>
                <a:ea typeface="Arial"/>
                <a:cs typeface="Arial"/>
              </a:rPr>
              <a:t>PASOS A SEGUIR</a:t>
            </a:r>
          </a:p>
        </p:txBody>
      </p:sp>
      <p:sp>
        <p:nvSpPr>
          <p:cNvPr id="4" name="numero-flecha-1">
            <a:extLst xmlns:a="http://schemas.openxmlformats.org/drawingml/2006/main">
              <a:ext uri="{FF2B5EF4-FFF2-40B4-BE49-F238E27FC236}">
                <a16:creationId xmlns:a16="http://schemas.microsoft.com/office/drawing/2014/main" id="{27CAB2C6-8AB0-4388-9CD4-6AEF5BD5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85975"/>
            <a:ext cx="952500" cy="55245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8EA5C7"/>
          </a:solidFill>
          <a:ln xmlns:a="http://schemas.openxmlformats.org/drawingml/2006/main" w="0">
            <a:noFill/>
          </a:ln>
        </p:spPr>
      </p:sp>
      <p:sp>
        <p:nvSpPr>
          <p:cNvPr id="5" name="etapa-bloque-1">
            <a:extLst xmlns:a="http://schemas.openxmlformats.org/drawingml/2006/main">
              <a:ext uri="{FF2B5EF4-FFF2-40B4-BE49-F238E27FC236}">
                <a16:creationId xmlns:a16="http://schemas.microsoft.com/office/drawing/2014/main" id="{77B0E6AF-CD18-48B1-B8A7-4197EFC0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952625"/>
            <a:ext cx="3533775" cy="8001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072B66"/>
          </a:solidFill>
          <a:ln xmlns:a="http://schemas.openxmlformats.org/drawingml/2006/main" w="0">
            <a:noFill/>
          </a:ln>
        </p:spPr>
      </p:sp>
      <p:sp>
        <p:nvSpPr>
          <p:cNvPr id="6" name="numero-1">
            <a:extLst xmlns:a="http://schemas.openxmlformats.org/drawingml/2006/main">
              <a:ext uri="{FF2B5EF4-FFF2-40B4-BE49-F238E27FC236}">
                <a16:creationId xmlns:a16="http://schemas.microsoft.com/office/drawing/2014/main" id="{BCC6390B-1247-478D-BFE4-D15C5D0D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21336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etapa-1">
            <a:extLst xmlns:a="http://schemas.openxmlformats.org/drawingml/2006/main">
              <a:ext uri="{FF2B5EF4-FFF2-40B4-BE49-F238E27FC236}">
                <a16:creationId xmlns:a16="http://schemas.microsoft.com/office/drawing/2014/main" id="{D06537C5-1029-47B4-A854-93D36057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085975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mensual de ABAKO</a:t>
            </a:r>
          </a:p>
        </p:txBody>
      </p:sp>
      <p:sp>
        <p:nvSpPr>
          <p:cNvPr id="8" name="etiqueta-1">
            <a:extLst xmlns:a="http://schemas.openxmlformats.org/drawingml/2006/main">
              <a:ext uri="{FF2B5EF4-FFF2-40B4-BE49-F238E27FC236}">
                <a16:creationId xmlns:a16="http://schemas.microsoft.com/office/drawing/2014/main" id="{5FF37B50-8EBD-467D-A029-588EEA34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383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 i="1">
                <a:solidFill>
                  <a:srgbClr val="5A64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 i="1">
                <a:solidFill>
                  <a:srgbClr val="5A647B"/>
                </a:solidFill>
                <a:latin typeface="Arial"/>
                <a:ea typeface="Arial"/>
                <a:cs typeface="Arial"/>
              </a:defRPr>
            </a:pPr>
            <a:r>
              <a:rPr sz="975" b="1" i="1">
                <a:solidFill>
                  <a:srgbClr val="5A647B"/>
                </a:solidFill>
                <a:latin typeface="Arial"/>
                <a:ea typeface="Arial"/>
                <a:cs typeface="Arial"/>
              </a:rPr>
              <a:t>MES COMPLETO</a:t>
            </a:r>
          </a:p>
        </p:txBody>
      </p:sp>
      <p:sp>
        <p:nvSpPr>
          <p:cNvPr id="9" name="separador-1">
            <a:extLst xmlns:a="http://schemas.openxmlformats.org/drawingml/2006/main">
              <a:ext uri="{FF2B5EF4-FFF2-40B4-BE49-F238E27FC236}">
                <a16:creationId xmlns:a16="http://schemas.microsoft.com/office/drawing/2014/main" id="{71491DF8-27B7-46FB-86E4-7806A42D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00250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A5C7"/>
            </a:solidFill>
          </a:ln>
        </p:spPr>
      </p:sp>
      <p:sp>
        <p:nvSpPr>
          <p:cNvPr id="10" name="actividades-1">
            <a:extLst xmlns:a="http://schemas.openxmlformats.org/drawingml/2006/main">
              <a:ext uri="{FF2B5EF4-FFF2-40B4-BE49-F238E27FC236}">
                <a16:creationId xmlns:a16="http://schemas.microsoft.com/office/drawing/2014/main" id="{8F8C77EE-897A-409B-A95F-4C0A258C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2009775"/>
            <a:ext cx="4038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52400" indent="-88900" algn="l">
              <a:lnSpc>
                <a:spcPct val="110000"/>
              </a:lnSpc>
              <a:spcAft>
                <a:spcPts val="500"/>
              </a:spcAft>
              <a:buNone/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9334D"/>
                </a:solidFill>
                <a:latin typeface="Arial"/>
                <a:ea typeface="Arial"/>
                <a:cs typeface="Arial"/>
              </a:rPr>
              <a:t>Exportar todas las compras de un mes completo.</a:t>
            </a:r>
          </a:p>
          <a:p xmlns:a="http://schemas.openxmlformats.org/drawingml/2006/main">
            <a:pPr marL="152400" indent="-88900" algn="l">
              <a:lnSpc>
                <a:spcPct val="110000"/>
              </a:lnSpc>
              <a:spcAft>
                <a:spcPts val="500"/>
              </a:spcAft>
              <a:buNone/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9334D"/>
                </a:solidFill>
                <a:latin typeface="Arial"/>
                <a:ea typeface="Arial"/>
                <a:cs typeface="Arial"/>
              </a:rPr>
              <a:t>Confirmar cobertura y revisar duplicados.</a:t>
            </a:r>
          </a:p>
        </p:txBody>
      </p:sp>
      <p:sp>
        <p:nvSpPr>
          <p:cNvPr id="11" name="numero-flecha-2">
            <a:extLst xmlns:a="http://schemas.openxmlformats.org/drawingml/2006/main">
              <a:ext uri="{FF2B5EF4-FFF2-40B4-BE49-F238E27FC236}">
                <a16:creationId xmlns:a16="http://schemas.microsoft.com/office/drawing/2014/main" id="{A03ADD90-2E88-4AE0-9A73-8B20B289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9925"/>
            <a:ext cx="952500" cy="55245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85B9F7"/>
          </a:solidFill>
          <a:ln xmlns:a="http://schemas.openxmlformats.org/drawingml/2006/main" w="0">
            <a:noFill/>
          </a:ln>
        </p:spPr>
      </p:sp>
      <p:sp>
        <p:nvSpPr>
          <p:cNvPr id="12" name="etapa-bloque-2">
            <a:extLst xmlns:a="http://schemas.openxmlformats.org/drawingml/2006/main">
              <a:ext uri="{FF2B5EF4-FFF2-40B4-BE49-F238E27FC236}">
                <a16:creationId xmlns:a16="http://schemas.microsoft.com/office/drawing/2014/main" id="{315B8C2A-5767-40ED-9999-CB70C0BC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76575"/>
            <a:ext cx="3533775" cy="8001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6DE1"/>
          </a:solidFill>
          <a:ln xmlns:a="http://schemas.openxmlformats.org/drawingml/2006/main" w="0">
            <a:noFill/>
          </a:ln>
        </p:spPr>
      </p:sp>
      <p:sp>
        <p:nvSpPr>
          <p:cNvPr id="13" name="numero-2">
            <a:extLst xmlns:a="http://schemas.openxmlformats.org/drawingml/2006/main">
              <a:ext uri="{FF2B5EF4-FFF2-40B4-BE49-F238E27FC236}">
                <a16:creationId xmlns:a16="http://schemas.microsoft.com/office/drawing/2014/main" id="{4E39C78C-33F0-4F2B-8C9D-4F4C8C02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3257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etapa-2">
            <a:extLst xmlns:a="http://schemas.openxmlformats.org/drawingml/2006/main">
              <a:ext uri="{FF2B5EF4-FFF2-40B4-BE49-F238E27FC236}">
                <a16:creationId xmlns:a16="http://schemas.microsoft.com/office/drawing/2014/main" id="{1C18D47C-15A2-48FA-B587-CD6F27A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209925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Segmentación (S)</a:t>
            </a:r>
          </a:p>
        </p:txBody>
      </p:sp>
      <p:sp>
        <p:nvSpPr>
          <p:cNvPr id="15" name="etiqueta-2">
            <a:extLst xmlns:a="http://schemas.openxmlformats.org/drawingml/2006/main">
              <a:ext uri="{FF2B5EF4-FFF2-40B4-BE49-F238E27FC236}">
                <a16:creationId xmlns:a16="http://schemas.microsoft.com/office/drawing/2014/main" id="{18E5EF8C-E844-4B14-B1BC-306C6CF6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33623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 i="1">
                <a:solidFill>
                  <a:srgbClr val="5A64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 i="1">
                <a:solidFill>
                  <a:srgbClr val="5A647B"/>
                </a:solidFill>
                <a:latin typeface="Arial"/>
                <a:ea typeface="Arial"/>
                <a:cs typeface="Arial"/>
              </a:defRPr>
            </a:pPr>
            <a:r>
              <a:rPr sz="975" b="1" i="1">
                <a:solidFill>
                  <a:srgbClr val="5A647B"/>
                </a:solidFill>
                <a:latin typeface="Arial"/>
                <a:ea typeface="Arial"/>
                <a:cs typeface="Arial"/>
              </a:rPr>
              <a:t>SEGMENTAR</a:t>
            </a:r>
          </a:p>
        </p:txBody>
      </p:sp>
      <p:sp>
        <p:nvSpPr>
          <p:cNvPr id="16" name="separador-2">
            <a:extLst xmlns:a="http://schemas.openxmlformats.org/drawingml/2006/main">
              <a:ext uri="{FF2B5EF4-FFF2-40B4-BE49-F238E27FC236}">
                <a16:creationId xmlns:a16="http://schemas.microsoft.com/office/drawing/2014/main" id="{6CD9BBB7-55BB-4473-8416-16F9C465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24200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5B9F7"/>
            </a:solidFill>
          </a:ln>
        </p:spPr>
      </p:sp>
      <p:sp>
        <p:nvSpPr>
          <p:cNvPr id="17" name="actividades-2">
            <a:extLst xmlns:a="http://schemas.openxmlformats.org/drawingml/2006/main">
              <a:ext uri="{FF2B5EF4-FFF2-40B4-BE49-F238E27FC236}">
                <a16:creationId xmlns:a16="http://schemas.microsoft.com/office/drawing/2014/main" id="{F33D296B-3BBA-46B9-B721-6D8D9966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3133725"/>
            <a:ext cx="4038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52400" indent="-88900" algn="l">
              <a:lnSpc>
                <a:spcPct val="110000"/>
              </a:lnSpc>
              <a:spcAft>
                <a:spcPts val="500"/>
              </a:spcAft>
              <a:buNone/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9334D"/>
                </a:solidFill>
                <a:latin typeface="Arial"/>
                <a:ea typeface="Arial"/>
                <a:cs typeface="Arial"/>
              </a:rPr>
              <a:t>Agrupar por compra y frecuencia.</a:t>
            </a:r>
          </a:p>
          <a:p xmlns:a="http://schemas.openxmlformats.org/drawingml/2006/main">
            <a:pPr marL="152400" indent="-88900" algn="l">
              <a:lnSpc>
                <a:spcPct val="110000"/>
              </a:lnSpc>
              <a:spcAft>
                <a:spcPts val="500"/>
              </a:spcAft>
              <a:buNone/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9334D"/>
                </a:solidFill>
                <a:latin typeface="Arial"/>
                <a:ea typeface="Arial"/>
                <a:cs typeface="Arial"/>
              </a:rPr>
              <a:t>Validar los perfiles con el asesor.</a:t>
            </a:r>
          </a:p>
        </p:txBody>
      </p:sp>
      <p:sp>
        <p:nvSpPr>
          <p:cNvPr id="18" name="numero-flecha-3">
            <a:extLst xmlns:a="http://schemas.openxmlformats.org/drawingml/2006/main">
              <a:ext uri="{FF2B5EF4-FFF2-40B4-BE49-F238E27FC236}">
                <a16:creationId xmlns:a16="http://schemas.microsoft.com/office/drawing/2014/main" id="{FC73D1EF-1AB5-4B82-BEB9-9FC803B6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952500" cy="55245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B3DFF8"/>
          </a:solidFill>
          <a:ln xmlns:a="http://schemas.openxmlformats.org/drawingml/2006/main" w="0">
            <a:noFill/>
          </a:ln>
        </p:spPr>
      </p:sp>
      <p:sp>
        <p:nvSpPr>
          <p:cNvPr id="19" name="etapa-bloque-3">
            <a:extLst xmlns:a="http://schemas.openxmlformats.org/drawingml/2006/main">
              <a:ext uri="{FF2B5EF4-FFF2-40B4-BE49-F238E27FC236}">
                <a16:creationId xmlns:a16="http://schemas.microsoft.com/office/drawing/2014/main" id="{B8CA6EBC-8D53-4FCF-AD46-67A9B3DD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248150"/>
            <a:ext cx="3533775" cy="8001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A9DDF6"/>
          </a:solidFill>
          <a:ln xmlns:a="http://schemas.openxmlformats.org/drawingml/2006/main" w="0">
            <a:noFill/>
          </a:ln>
        </p:spPr>
      </p:sp>
      <p:sp>
        <p:nvSpPr>
          <p:cNvPr id="20" name="numero-3">
            <a:extLst xmlns:a="http://schemas.openxmlformats.org/drawingml/2006/main">
              <a:ext uri="{FF2B5EF4-FFF2-40B4-BE49-F238E27FC236}">
                <a16:creationId xmlns:a16="http://schemas.microsoft.com/office/drawing/2014/main" id="{198685C3-26F1-4CA1-AD03-C20C321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442912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etapa-3">
            <a:extLst xmlns:a="http://schemas.openxmlformats.org/drawingml/2006/main">
              <a:ext uri="{FF2B5EF4-FFF2-40B4-BE49-F238E27FC236}">
                <a16:creationId xmlns:a16="http://schemas.microsoft.com/office/drawing/2014/main" id="{09294F8C-C696-483C-A7C4-C699C77E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43815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02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02A4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8"/>
                </a:solidFill>
                <a:latin typeface="Arial"/>
                <a:ea typeface="Arial"/>
                <a:cs typeface="Arial"/>
              </a:rPr>
              <a:t>Selección de objetivos (T)</a:t>
            </a:r>
          </a:p>
        </p:txBody>
      </p:sp>
      <p:sp>
        <p:nvSpPr>
          <p:cNvPr id="22" name="etiqueta-3">
            <a:extLst xmlns:a="http://schemas.openxmlformats.org/drawingml/2006/main">
              <a:ext uri="{FF2B5EF4-FFF2-40B4-BE49-F238E27FC236}">
                <a16:creationId xmlns:a16="http://schemas.microsoft.com/office/drawing/2014/main" id="{4E29C4C4-1C0E-4C31-BE2B-3D4F1C5E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4533900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 i="1">
                <a:solidFill>
                  <a:srgbClr val="5A64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 i="1">
                <a:solidFill>
                  <a:srgbClr val="5A647B"/>
                </a:solidFill>
                <a:latin typeface="Arial"/>
                <a:ea typeface="Arial"/>
                <a:cs typeface="Arial"/>
              </a:defRPr>
            </a:pPr>
            <a:r>
              <a:rPr sz="975" b="1" i="1">
                <a:solidFill>
                  <a:srgbClr val="5A647B"/>
                </a:solidFill>
                <a:latin typeface="Arial"/>
                <a:ea typeface="Arial"/>
                <a:cs typeface="Arial"/>
              </a:rPr>
              <a:t>PRIORIZAR</a:t>
            </a:r>
          </a:p>
        </p:txBody>
      </p:sp>
      <p:sp>
        <p:nvSpPr>
          <p:cNvPr id="23" name="separador-3">
            <a:extLst xmlns:a="http://schemas.openxmlformats.org/drawingml/2006/main">
              <a:ext uri="{FF2B5EF4-FFF2-40B4-BE49-F238E27FC236}">
                <a16:creationId xmlns:a16="http://schemas.microsoft.com/office/drawing/2014/main" id="{87A1E1A3-FB50-4977-801A-DF2E841F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295775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DFF8"/>
            </a:solidFill>
          </a:ln>
        </p:spPr>
      </p:sp>
      <p:sp>
        <p:nvSpPr>
          <p:cNvPr id="24" name="actividades-3">
            <a:extLst xmlns:a="http://schemas.openxmlformats.org/drawingml/2006/main">
              <a:ext uri="{FF2B5EF4-FFF2-40B4-BE49-F238E27FC236}">
                <a16:creationId xmlns:a16="http://schemas.microsoft.com/office/drawing/2014/main" id="{8976621B-4AAD-44D4-A183-5B484295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305300"/>
            <a:ext cx="4038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52400" indent="-88900" algn="l">
              <a:lnSpc>
                <a:spcPct val="110000"/>
              </a:lnSpc>
              <a:spcAft>
                <a:spcPts val="500"/>
              </a:spcAft>
              <a:buNone/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9334D"/>
                </a:solidFill>
                <a:latin typeface="Arial"/>
                <a:ea typeface="Arial"/>
                <a:cs typeface="Arial"/>
              </a:rPr>
              <a:t>Estimar potencial y viabilidad de atención.</a:t>
            </a:r>
          </a:p>
          <a:p xmlns:a="http://schemas.openxmlformats.org/drawingml/2006/main">
            <a:pPr marL="152400" indent="-88900" algn="l">
              <a:lnSpc>
                <a:spcPct val="110000"/>
              </a:lnSpc>
              <a:spcAft>
                <a:spcPts val="500"/>
              </a:spcAft>
              <a:buNone/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9334D"/>
                </a:solidFill>
                <a:latin typeface="Arial"/>
                <a:ea typeface="Arial"/>
                <a:cs typeface="Arial"/>
              </a:rPr>
              <a:t>Elegir tiendas según la capacidad disponible.</a:t>
            </a:r>
          </a:p>
        </p:txBody>
      </p:sp>
      <p:sp>
        <p:nvSpPr>
          <p:cNvPr id="25" name="numero-flecha-4">
            <a:extLst xmlns:a="http://schemas.openxmlformats.org/drawingml/2006/main">
              <a:ext uri="{FF2B5EF4-FFF2-40B4-BE49-F238E27FC236}">
                <a16:creationId xmlns:a16="http://schemas.microsoft.com/office/drawing/2014/main" id="{A6C2D46E-BF89-4D38-953A-6ED9185A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24500"/>
            <a:ext cx="952500" cy="552450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BECDDA"/>
          </a:solidFill>
          <a:ln xmlns:a="http://schemas.openxmlformats.org/drawingml/2006/main" w="0">
            <a:noFill/>
          </a:ln>
        </p:spPr>
      </p:sp>
      <p:sp>
        <p:nvSpPr>
          <p:cNvPr id="26" name="etapa-bloque-4">
            <a:extLst xmlns:a="http://schemas.openxmlformats.org/drawingml/2006/main">
              <a:ext uri="{FF2B5EF4-FFF2-40B4-BE49-F238E27FC236}">
                <a16:creationId xmlns:a16="http://schemas.microsoft.com/office/drawing/2014/main" id="{2250B8DB-A3FC-408E-BCB8-DA65070E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391150"/>
            <a:ext cx="3533775" cy="8001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D2E1F0"/>
          </a:solidFill>
          <a:ln xmlns:a="http://schemas.openxmlformats.org/drawingml/2006/main" w="0">
            <a:noFill/>
          </a:ln>
        </p:spPr>
      </p:sp>
      <p:sp>
        <p:nvSpPr>
          <p:cNvPr id="27" name="numero-4">
            <a:extLst xmlns:a="http://schemas.openxmlformats.org/drawingml/2006/main">
              <a:ext uri="{FF2B5EF4-FFF2-40B4-BE49-F238E27FC236}">
                <a16:creationId xmlns:a16="http://schemas.microsoft.com/office/drawing/2014/main" id="{BBA70C26-98C1-411C-A8C6-288E6B20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557212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etapa-4">
            <a:extLst xmlns:a="http://schemas.openxmlformats.org/drawingml/2006/main">
              <a:ext uri="{FF2B5EF4-FFF2-40B4-BE49-F238E27FC236}">
                <a16:creationId xmlns:a16="http://schemas.microsoft.com/office/drawing/2014/main" id="{E05E6A00-24E6-4A6C-9731-614538F9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55245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827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827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744"/>
                </a:solidFill>
                <a:latin typeface="Arial"/>
                <a:ea typeface="Arial"/>
                <a:cs typeface="Arial"/>
              </a:rPr>
              <a:t>Propuesta y seguimiento (P)</a:t>
            </a:r>
          </a:p>
        </p:txBody>
      </p:sp>
      <p:sp>
        <p:nvSpPr>
          <p:cNvPr id="29" name="etiqueta-4">
            <a:extLst xmlns:a="http://schemas.openxmlformats.org/drawingml/2006/main">
              <a:ext uri="{FF2B5EF4-FFF2-40B4-BE49-F238E27FC236}">
                <a16:creationId xmlns:a16="http://schemas.microsoft.com/office/drawing/2014/main" id="{649DB34E-B7B1-44E9-A795-096B6901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5676900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75" b="1" i="1">
                <a:solidFill>
                  <a:srgbClr val="5A64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 i="1">
                <a:solidFill>
                  <a:srgbClr val="5A647B"/>
                </a:solidFill>
                <a:latin typeface="Arial"/>
                <a:ea typeface="Arial"/>
                <a:cs typeface="Arial"/>
              </a:defRPr>
            </a:pPr>
            <a:r>
              <a:rPr sz="975" b="1" i="1">
                <a:solidFill>
                  <a:srgbClr val="5A647B"/>
                </a:solidFill>
                <a:latin typeface="Arial"/>
                <a:ea typeface="Arial"/>
                <a:cs typeface="Arial"/>
              </a:rPr>
              <a:t>ACTUAR Y MEDIR</a:t>
            </a:r>
          </a:p>
        </p:txBody>
      </p:sp>
      <p:sp>
        <p:nvSpPr>
          <p:cNvPr id="30" name="separador-4">
            <a:extLst xmlns:a="http://schemas.openxmlformats.org/drawingml/2006/main">
              <a:ext uri="{FF2B5EF4-FFF2-40B4-BE49-F238E27FC236}">
                <a16:creationId xmlns:a16="http://schemas.microsoft.com/office/drawing/2014/main" id="{1F1CC6DF-398D-459D-AB71-973244F8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438775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CDDA"/>
            </a:solidFill>
          </a:ln>
        </p:spPr>
      </p:sp>
      <p:sp>
        <p:nvSpPr>
          <p:cNvPr id="31" name="actividades-4">
            <a:extLst xmlns:a="http://schemas.openxmlformats.org/drawingml/2006/main">
              <a:ext uri="{FF2B5EF4-FFF2-40B4-BE49-F238E27FC236}">
                <a16:creationId xmlns:a16="http://schemas.microsoft.com/office/drawing/2014/main" id="{7C41CEF9-374B-4B09-B59E-3AE840F0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5448300"/>
            <a:ext cx="4038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52400" indent="-88900" algn="l">
              <a:lnSpc>
                <a:spcPct val="110000"/>
              </a:lnSpc>
              <a:spcAft>
                <a:spcPts val="500"/>
              </a:spcAft>
              <a:buNone/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9334D"/>
                </a:solidFill>
                <a:latin typeface="Arial"/>
                <a:ea typeface="Arial"/>
                <a:cs typeface="Arial"/>
              </a:rPr>
              <a:t>Acordar oferta, responsable e indicador.</a:t>
            </a:r>
          </a:p>
          <a:p xmlns:a="http://schemas.openxmlformats.org/drawingml/2006/main">
            <a:pPr marL="152400" indent="-88900" algn="l">
              <a:lnSpc>
                <a:spcPct val="110000"/>
              </a:lnSpc>
              <a:spcAft>
                <a:spcPts val="500"/>
              </a:spcAft>
              <a:buNone/>
              <a:defRPr sz="13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9334D"/>
                </a:solidFill>
                <a:latin typeface="Arial"/>
                <a:ea typeface="Arial"/>
                <a:cs typeface="Arial"/>
              </a:rPr>
              <a:t>Registrar contactos y revisar compras posteriores.</a:t>
            </a:r>
          </a:p>
        </p:txBody>
      </p:sp>
      <p:sp>
        <p:nvSpPr>
          <p:cNvPr id="32" name="alcance">
            <a:extLst xmlns:a="http://schemas.openxmlformats.org/drawingml/2006/main">
              <a:ext uri="{FF2B5EF4-FFF2-40B4-BE49-F238E27FC236}">
                <a16:creationId xmlns:a16="http://schemas.microsoft.com/office/drawing/2014/main" id="{1EAE4C37-6901-4AAA-9008-7905D66B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65151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A64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A647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647B"/>
                </a:solidFill>
                <a:latin typeface="Arial"/>
                <a:ea typeface="Arial"/>
                <a:cs typeface="Arial"/>
              </a:rPr>
              <a:t>Secuencia propuesta. Las prioridades y metas requieren validación comercial.</a:t>
            </a:r>
          </a:p>
        </p:txBody>
      </p:sp>
    </p:spTree>
    <p:extLst>
      <p:ext uri="{BB962C8B-B14F-4D97-AF65-F5344CB8AC3E}">
        <p14:creationId xmlns:p14="http://schemas.microsoft.com/office/powerpoint/2010/main" val="507286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2026-10-16T06:34:30.9610000Z</dcterms:created>
  <dcterms:modified xsi:type="dcterms:W3CDTF">2026-10-16T06:34:30.9620000Z</dcterms:modified>
</coreProperties>
</file>